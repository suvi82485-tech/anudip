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60" r:id="rId3"/>
  </p:sldMasterIdLst>
  <p:sldIdLst>
    <p:sldId id="256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1365" cy="6858000" type="screen4x3"/>
  <p:notesSz cx="6858000" cy="9144000"/>
  <p:embeddedFontLst>
    <p:embeddedFont>
      <p:font typeface="Baskerville Old Face" panose="02020602080505020303" charset="0"/>
      <p:regular r:id="rId22"/>
    </p:embeddedFont>
    <p:embeddedFont>
      <p:font typeface="Algerian" panose="04020705040A02060702" charset="0"/>
      <p:regular r:id="rId23"/>
    </p:embeddedFont>
    <p:embeddedFont>
      <p:font typeface="Crimson Text SemiBold" charset="0"/>
      <p:bold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40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2" Type="http://schemas.openxmlformats.org/officeDocument/2006/relationships/tags" Target="../tags/tag107.xml"/><Relationship Id="rId21" Type="http://schemas.openxmlformats.org/officeDocument/2006/relationships/tags" Target="../tags/tag106.xml"/><Relationship Id="rId20" Type="http://schemas.openxmlformats.org/officeDocument/2006/relationships/tags" Target="../tags/tag105.xml"/><Relationship Id="rId2" Type="http://schemas.openxmlformats.org/officeDocument/2006/relationships/tags" Target="../tags/tag89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image" Target="../media/image2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6719704" y="3429000"/>
            <a:ext cx="306851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>
            <p:custDataLst>
              <p:tags r:id="rId5"/>
            </p:custDataLst>
          </p:nvPr>
        </p:nvSpPr>
        <p:spPr>
          <a:xfrm>
            <a:off x="8277634" y="1016000"/>
            <a:ext cx="2933543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10436134" y="5241025"/>
            <a:ext cx="114950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>
            <p:custDataLst>
              <p:tags r:id="rId7"/>
            </p:custDataLst>
          </p:nvPr>
        </p:nvSpPr>
        <p:spPr>
          <a:xfrm>
            <a:off x="7760444" y="1016000"/>
            <a:ext cx="2933543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>
            <p:custDataLst>
              <p:tags r:id="rId8"/>
            </p:custDataLst>
          </p:nvPr>
        </p:nvSpPr>
        <p:spPr>
          <a:xfrm rot="3870695">
            <a:off x="8401018" y="972063"/>
            <a:ext cx="1676786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 rot="3870695">
            <a:off x="8401018" y="972063"/>
            <a:ext cx="1676786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>
            <p:custDataLst>
              <p:tags r:id="rId10"/>
            </p:custDataLst>
          </p:nvPr>
        </p:nvSpPr>
        <p:spPr>
          <a:xfrm>
            <a:off x="7183173" y="1646415"/>
            <a:ext cx="372174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4835" y="1806269"/>
            <a:ext cx="3203332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>
            <p:custDataLst>
              <p:tags r:id="rId14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5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6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>
            <p:custDataLst>
              <p:tags r:id="rId17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>
            <p:custDataLst>
              <p:tags r:id="rId18"/>
            </p:custDataLst>
          </p:nvPr>
        </p:nvSpPr>
        <p:spPr>
          <a:xfrm>
            <a:off x="9859557" y="4209212"/>
            <a:ext cx="368557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>
            <p:custDataLst>
              <p:tags r:id="rId19"/>
            </p:custDataLst>
          </p:nvPr>
        </p:nvSpPr>
        <p:spPr>
          <a:xfrm>
            <a:off x="7432419" y="1962602"/>
            <a:ext cx="651468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156" y="1121410"/>
            <a:ext cx="634522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55" y="4009006"/>
            <a:ext cx="5934790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54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07" y="5116537"/>
            <a:ext cx="287985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3327226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296" cy="2819401"/>
          </a:xfrm>
          <a:prstGeom prst="rect">
            <a:avLst/>
          </a:prstGeom>
        </p:spPr>
      </p:pic>
      <p:sp>
        <p:nvSpPr>
          <p:cNvPr id="25" name="矩形: 圆角 24"/>
          <p:cNvSpPr/>
          <p:nvPr>
            <p:custDataLst>
              <p:tags r:id="rId7"/>
            </p:custDataLst>
          </p:nvPr>
        </p:nvSpPr>
        <p:spPr>
          <a:xfrm>
            <a:off x="838157" y="1860552"/>
            <a:ext cx="10515052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>
            <p:custDataLst>
              <p:tags r:id="rId8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9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10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29533" y="565150"/>
            <a:ext cx="3198328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533249" y="3925701"/>
            <a:ext cx="1827904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3271889" y="1267996"/>
            <a:ext cx="249417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>
            <p:custDataLst>
              <p:tags r:id="rId7"/>
            </p:custDataLst>
          </p:nvPr>
        </p:nvSpPr>
        <p:spPr>
          <a:xfrm>
            <a:off x="1297839" y="941537"/>
            <a:ext cx="3289040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>
            <p:custDataLst>
              <p:tags r:id="rId8"/>
            </p:custDataLst>
          </p:nvPr>
        </p:nvSpPr>
        <p:spPr>
          <a:xfrm>
            <a:off x="1549776" y="941537"/>
            <a:ext cx="3289040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>
            <p:custDataLst>
              <p:tags r:id="rId9"/>
            </p:custDataLst>
          </p:nvPr>
        </p:nvSpPr>
        <p:spPr>
          <a:xfrm>
            <a:off x="3096614" y="1724416"/>
            <a:ext cx="261752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>
            <p:custDataLst>
              <p:tags r:id="rId10"/>
            </p:custDataLst>
          </p:nvPr>
        </p:nvSpPr>
        <p:spPr>
          <a:xfrm>
            <a:off x="3383978" y="1866175"/>
            <a:ext cx="643552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11" y="2619139"/>
            <a:ext cx="3737016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>
            <p:custDataLst>
              <p:tags r:id="rId14"/>
            </p:custDataLst>
          </p:nvPr>
        </p:nvSpPr>
        <p:spPr>
          <a:xfrm rot="16200000">
            <a:off x="10797636" y="5708698"/>
            <a:ext cx="107994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>
            <p:custDataLst>
              <p:tags r:id="rId15"/>
            </p:custDataLst>
          </p:nvPr>
        </p:nvSpPr>
        <p:spPr>
          <a:xfrm rot="3870695">
            <a:off x="2441217" y="1174224"/>
            <a:ext cx="1676786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>
            <p:custDataLst>
              <p:tags r:id="rId16"/>
            </p:custDataLst>
          </p:nvPr>
        </p:nvSpPr>
        <p:spPr>
          <a:xfrm rot="3870695">
            <a:off x="2236391" y="1174225"/>
            <a:ext cx="1676786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572" y="2974340"/>
            <a:ext cx="5852490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188" y="1631269"/>
            <a:ext cx="4978735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>
            <p:custDataLst>
              <p:tags r:id="rId22"/>
            </p:custDataLst>
          </p:nvPr>
        </p:nvCxnSpPr>
        <p:spPr>
          <a:xfrm>
            <a:off x="1192229" y="5956300"/>
            <a:ext cx="9270995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1879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289" y="360045"/>
            <a:ext cx="10800152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24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1879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1879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24" y="360045"/>
            <a:ext cx="10801422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289" y="360045"/>
            <a:ext cx="10798883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1079852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>
            <p:custDataLst>
              <p:tags r:id="rId4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flipH="1" flipV="1">
            <a:off x="9257818" y="3925570"/>
            <a:ext cx="2934182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>
            <p:custDataLst>
              <p:tags r:id="rId6"/>
            </p:custDataLst>
          </p:nvPr>
        </p:nvSpPr>
        <p:spPr>
          <a:xfrm>
            <a:off x="732451" y="970310"/>
            <a:ext cx="10620161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678622" y="966964"/>
            <a:ext cx="4484758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>
            <p:custDataLst>
              <p:tags r:id="rId8"/>
            </p:custDataLst>
          </p:nvPr>
        </p:nvSpPr>
        <p:spPr>
          <a:xfrm flipH="1">
            <a:off x="835866" y="5231764"/>
            <a:ext cx="10517342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6667" y="1773850"/>
            <a:ext cx="3773999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3479357" y="5666440"/>
            <a:ext cx="5233941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3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4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5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156" y="1265786"/>
            <a:ext cx="595894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54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30" y="5414440"/>
            <a:ext cx="287985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19585" y="5414440"/>
            <a:ext cx="287985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18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image" Target="../media/image4.svg"/><Relationship Id="rId16" Type="http://schemas.openxmlformats.org/officeDocument/2006/relationships/image" Target="../media/image3.png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>
            <p:custDataLst>
              <p:tags r:id="rId1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1" y="0"/>
            <a:ext cx="12191363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1615" y="4613195"/>
            <a:ext cx="939750" cy="224480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8"/>
            </p:custDataLst>
          </p:nvPr>
        </p:nvSpPr>
        <p:spPr>
          <a:xfrm>
            <a:off x="1" y="-13335"/>
            <a:ext cx="12191363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2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527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2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3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tags" Target="../tags/tag1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822960" y="1645920"/>
            <a:ext cx="4754880" cy="1828800"/>
          </a:xfrm>
          <a:prstGeom prst="roundRect">
            <a:avLst/>
          </a:prstGeom>
          <a:solidFill>
            <a:schemeClr val="accent1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rPr sz="3600">
                <a:solidFill>
                  <a:schemeClr val="lt1"/>
                </a:solidFill>
                <a:latin typeface="Baskerville Old Face" panose="02020602080505020303" charset="0"/>
                <a:cs typeface="Baskerville Old Face" panose="02020602080505020303" charset="0"/>
              </a:rPr>
              <a:t>Employee Attrition Analysis</a:t>
            </a:r>
            <a:endParaRPr sz="3600">
              <a:solidFill>
                <a:schemeClr val="lt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rPr sz="3600">
                <a:solidFill>
                  <a:schemeClr val="lt1"/>
                </a:solidFill>
                <a:latin typeface="Baskerville Old Face" panose="02020602080505020303" charset="0"/>
                <a:cs typeface="Baskerville Old Face" panose="02020602080505020303" charset="0"/>
              </a:rPr>
              <a:t>Project Topic</a:t>
            </a:r>
            <a:endParaRPr sz="3600">
              <a:solidFill>
                <a:schemeClr val="lt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5963920" y="1554480"/>
            <a:ext cx="5303520" cy="18351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Name: Suvitha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Introduction: Employee attrition means employees leaving an organization.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18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This project analyzes employee attrition using Microsoft Excel, Pivot Tables and Pivot Charts.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1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dirty="0">
                <a:latin typeface="Algerian" panose="04020705040A02060702" charset="0"/>
                <a:cs typeface="Algerian" panose="04020705040A02060702" charset="0"/>
                <a:sym typeface="+mn-ea"/>
              </a:rPr>
              <a:t>Employee Attrition Analysis</a:t>
            </a:r>
            <a:endParaRPr lang="en-US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914400" y="2165985"/>
            <a:ext cx="10698480" cy="2066290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To analyze employee attrition and identify factors associated with employee turnover.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To study the impact of overtime, job satisfaction, monthly income, work-life balance and job-related factors.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To understand attrition patterns across gender, job role, department, distance from home, career growth and job level</a:t>
            </a:r>
            <a:r>
              <a:rPr>
                <a:solidFill>
                  <a:schemeClr val="tx1"/>
                </a:solidFill>
              </a:rPr>
              <a:t>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2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2" name="Title 2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Algerian" panose="04020705040A02060702" charset="0"/>
                <a:cs typeface="Algerian" panose="04020705040A02060702" charset="0"/>
                <a:sym typeface="+mn-ea"/>
              </a:rPr>
              <a:t>Problem Statement</a:t>
            </a:r>
            <a:endParaRPr lang="en-US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640080" y="1554480"/>
            <a:ext cx="3383280" cy="1645920"/>
          </a:xfrm>
          <a:prstGeom prst="roundRect">
            <a:avLst/>
          </a:prstGeom>
          <a:solidFill>
            <a:schemeClr val="accent1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rPr>
                <a:solidFill>
                  <a:schemeClr val="lt1"/>
                </a:solidFill>
              </a:rPr>
              <a:t>16.12%</a:t>
            </a:r>
            <a:endParaRPr>
              <a:solidFill>
                <a:schemeClr val="lt1"/>
              </a:solidFill>
            </a:endParaRP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rPr>
                <a:solidFill>
                  <a:schemeClr val="lt1"/>
                </a:solidFill>
              </a:rPr>
              <a:t>Employee Attrition Rate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" name="Rounded Rectangle 4"/>
          <p:cNvSpPr/>
          <p:nvPr>
            <p:custDataLst>
              <p:tags r:id="rId2"/>
            </p:custDataLst>
          </p:nvPr>
        </p:nvSpPr>
        <p:spPr>
          <a:xfrm>
            <a:off x="4389120" y="1554480"/>
            <a:ext cx="3383280" cy="1645920"/>
          </a:xfrm>
          <a:prstGeom prst="roundRect">
            <a:avLst/>
          </a:prstGeom>
          <a:solidFill>
            <a:schemeClr val="accent1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rPr>
                <a:solidFill>
                  <a:schemeClr val="lt1"/>
                </a:solidFill>
              </a:rPr>
              <a:t>₹6,502.93</a:t>
            </a:r>
            <a:endParaRPr>
              <a:solidFill>
                <a:schemeClr val="lt1"/>
              </a:solidFill>
            </a:endParaRP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rPr>
                <a:solidFill>
                  <a:schemeClr val="lt1"/>
                </a:solidFill>
              </a:rPr>
              <a:t>Average Monthly Income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" name="Rounded Rectangle 5"/>
          <p:cNvSpPr/>
          <p:nvPr>
            <p:custDataLst>
              <p:tags r:id="rId3"/>
            </p:custDataLst>
          </p:nvPr>
        </p:nvSpPr>
        <p:spPr>
          <a:xfrm>
            <a:off x="8138160" y="1554480"/>
            <a:ext cx="3383280" cy="1645920"/>
          </a:xfrm>
          <a:prstGeom prst="roundRect">
            <a:avLst/>
          </a:prstGeom>
          <a:solidFill>
            <a:schemeClr val="accent1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rPr>
                <a:solidFill>
                  <a:schemeClr val="lt1"/>
                </a:solidFill>
              </a:rPr>
              <a:t>28.30%</a:t>
            </a:r>
            <a:endParaRPr>
              <a:solidFill>
                <a:schemeClr val="lt1"/>
              </a:solidFill>
            </a:endParaRP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rPr>
                <a:solidFill>
                  <a:schemeClr val="lt1"/>
                </a:solidFill>
              </a:rPr>
              <a:t>Overtime Employee Percentage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" name="Rounded Rectangle 6"/>
          <p:cNvSpPr/>
          <p:nvPr>
            <p:custDataLst>
              <p:tags r:id="rId4"/>
            </p:custDataLst>
          </p:nvPr>
        </p:nvSpPr>
        <p:spPr>
          <a:xfrm>
            <a:off x="2514600" y="3840480"/>
            <a:ext cx="3383280" cy="1645920"/>
          </a:xfrm>
          <a:prstGeom prst="roundRect">
            <a:avLst/>
          </a:prstGeom>
          <a:solidFill>
            <a:schemeClr val="accent1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rPr>
                <a:solidFill>
                  <a:schemeClr val="lt1"/>
                </a:solidFill>
              </a:rPr>
              <a:t>7.01</a:t>
            </a:r>
            <a:endParaRPr>
              <a:solidFill>
                <a:schemeClr val="lt1"/>
              </a:solidFill>
            </a:endParaRP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rPr>
                <a:solidFill>
                  <a:schemeClr val="lt1"/>
                </a:solidFill>
              </a:rPr>
              <a:t>Average Years at Company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" name="Rounded Rectangle 7"/>
          <p:cNvSpPr/>
          <p:nvPr>
            <p:custDataLst>
              <p:tags r:id="rId5"/>
            </p:custDataLst>
          </p:nvPr>
        </p:nvSpPr>
        <p:spPr>
          <a:xfrm>
            <a:off x="6263640" y="3840480"/>
            <a:ext cx="3383280" cy="1645920"/>
          </a:xfrm>
          <a:prstGeom prst="roundRect">
            <a:avLst/>
          </a:prstGeom>
          <a:solidFill>
            <a:schemeClr val="accent1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800" b="1">
                <a:solidFill>
                  <a:srgbClr val="1F3756"/>
                </a:solidFill>
              </a:defRPr>
            </a:pPr>
            <a:r>
              <a:rPr>
                <a:solidFill>
                  <a:schemeClr val="lt1"/>
                </a:solidFill>
              </a:rPr>
              <a:t>2.73</a:t>
            </a:r>
            <a:endParaRPr>
              <a:solidFill>
                <a:schemeClr val="lt1"/>
              </a:solidFill>
            </a:endParaRP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rPr>
                <a:solidFill>
                  <a:schemeClr val="lt1"/>
                </a:solidFill>
              </a:rPr>
              <a:t>Average Job Satisfaction Score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5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40715" y="360045"/>
            <a:ext cx="10854690" cy="72009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dirty="0">
                <a:latin typeface="Algerian" panose="04020705040A02060702" charset="0"/>
                <a:cs typeface="Algerian" panose="04020705040A02060702" charset="0"/>
                <a:sym typeface="+mn-ea"/>
              </a:rPr>
              <a:t>Key Performance Indicators (KPIs)</a:t>
            </a:r>
            <a:endParaRPr lang="en-US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888365" y="2557780"/>
            <a:ext cx="10607040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Gender-wise attrition was analyzed using Attrition (Yes/No).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Male employees: 6 attrition cases; Female employees: 6 attrition cases in the project view.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Attrition counts were compared between male and female employees.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6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2800" dirty="0">
                <a:latin typeface="Algerian" panose="04020705040A02060702" charset="0"/>
                <a:cs typeface="Algerian" panose="04020705040A02060702" charset="0"/>
                <a:sym typeface="+mn-ea"/>
              </a:rPr>
              <a:t>Question 1 – Genderwise Attrition</a:t>
            </a:r>
            <a:endParaRPr lang="en-US" sz="2800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695325" y="2023110"/>
            <a:ext cx="10734675" cy="2284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Overtime status was compared with employee attrition.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17 employees were in the Overtime = Yes group and 46 were in the Overtime = No group in the project view.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The analysis shows that overtime status is an important factor to examine for attrition.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7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2800" dirty="0">
                <a:latin typeface="Algerian" panose="04020705040A02060702" charset="0"/>
                <a:cs typeface="Algerian" panose="04020705040A02060702" charset="0"/>
                <a:sym typeface="+mn-ea"/>
              </a:rPr>
              <a:t>Question 2 – Overtime (Yes / No)</a:t>
            </a:r>
            <a:endParaRPr lang="en-US" sz="2800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822960" y="2176145"/>
            <a:ext cx="10607040" cy="24879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Job Satisfaction scores from 1 to 4 were compared with Attrition (Yes/No).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The highest employee count was at Job Satisfaction score 2.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Attrition cases were highest at score 1 compared with the other satisfaction levels in the project view.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8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2800" dirty="0">
                <a:latin typeface="Algerian" panose="04020705040A02060702" charset="0"/>
                <a:cs typeface="Algerian" panose="04020705040A02060702" charset="0"/>
                <a:sym typeface="+mn-ea"/>
              </a:rPr>
              <a:t>Question 3 – Job Satisfaction and Attrition</a:t>
            </a:r>
            <a:endParaRPr lang="en-US" sz="2800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535305" y="2108200"/>
            <a:ext cx="10607040" cy="2245360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Average Monthly Income was compared between employees who stayed and employees who left.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Average income for Attrition = No: ₹7,345.98.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Average income for Attrition = Yes: ₹3,715.75.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The project view shows lower average income among employees who left.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9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001994" y="360000"/>
            <a:ext cx="10799438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2800" dirty="0">
                <a:latin typeface="Algerian" panose="04020705040A02060702" charset="0"/>
                <a:cs typeface="Algerian" panose="04020705040A02060702" charset="0"/>
                <a:sym typeface="+mn-ea"/>
              </a:rPr>
              <a:t>Question 4 – Monthly Income and Attrition</a:t>
            </a:r>
            <a:endParaRPr lang="en-US" sz="2800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822960" y="2165985"/>
            <a:ext cx="10607040" cy="21653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</a:rPr>
              <a:t>W</a:t>
            </a: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ork-Life Balance scores from 1 to 4 were compared with Attrition.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Most employees in the project view had a Work-Life Balance score of 3.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Attrition cases were present across the work-life balance categories.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289030" y="6446520"/>
            <a:ext cx="32385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10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2400" dirty="0">
                <a:latin typeface="Algerian" panose="04020705040A02060702" charset="0"/>
                <a:cs typeface="Algerian" panose="04020705040A02060702" charset="0"/>
                <a:sym typeface="+mn-ea"/>
              </a:rPr>
              <a:t>Question 5 – Work-Life Balance and Analysis</a:t>
            </a:r>
            <a:endParaRPr lang="en-US" sz="2400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791845" y="2188210"/>
            <a:ext cx="10607040" cy="22974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</a:rPr>
              <a:t>J</a:t>
            </a: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ob Role was compared with Attrition (Yes/No).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In the project view, Human Resources had 12 attrition cases.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Manager had 0 attrition cases in the displayed project view.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289030" y="6446520"/>
            <a:ext cx="32385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11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2800" dirty="0">
                <a:latin typeface="Algerian" panose="04020705040A02060702" charset="0"/>
                <a:cs typeface="Algerian" panose="04020705040A02060702" charset="0"/>
                <a:sym typeface="+mn-ea"/>
              </a:rPr>
              <a:t>Question 6 – Job Role Wise Attrition</a:t>
            </a:r>
            <a:endParaRPr lang="en-US" sz="2800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791845" y="2196465"/>
            <a:ext cx="10607040" cy="27971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Department was analyzed against Attrition (Yes/No).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The dashboard/project view focuses on the Human Resources department.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Within the displayed department view, 12 employees were marked as Attrition = Yes.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289030" y="6446520"/>
            <a:ext cx="32385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12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654810" y="319405"/>
            <a:ext cx="10340975" cy="720090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2800" dirty="0">
                <a:latin typeface="Algerian" panose="04020705040A02060702" charset="0"/>
                <a:cs typeface="Algerian" panose="04020705040A02060702" charset="0"/>
                <a:sym typeface="+mn-ea"/>
              </a:rPr>
              <a:t>Question 7 – Department Wise Attrition</a:t>
            </a:r>
            <a:endParaRPr lang="en-US" sz="2800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888365" y="1975485"/>
            <a:ext cx="10607040" cy="23247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Distance from Home was compared with Attrition.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Attrition cases occurred across different distances from home.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The project view indicates that employees living farther from the workplace were also present among attrition cases.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289030" y="6446520"/>
            <a:ext cx="32385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13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2800" dirty="0">
                <a:latin typeface="Algerian" panose="04020705040A02060702" charset="0"/>
                <a:cs typeface="Algerian" panose="04020705040A02060702" charset="0"/>
                <a:sym typeface="+mn-ea"/>
              </a:rPr>
              <a:t>Question 8 – Distance from Home</a:t>
            </a:r>
            <a:endParaRPr lang="en-US" sz="2800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822960" y="1645920"/>
            <a:ext cx="10607040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>
                <a:solidFill>
                  <a:schemeClr val="tx1"/>
                </a:solidFill>
              </a:rPr>
              <a:t>C</a:t>
            </a: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areer growth was analyzed using the project’s career-growth measure against Attrition.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Attrition was compared across the different career-growth levels.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The analysis helps identify whether limited career growth is associated with employee attrition.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289030" y="6446520"/>
            <a:ext cx="32385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14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2800" dirty="0">
                <a:latin typeface="Algerian" panose="04020705040A02060702" charset="0"/>
                <a:cs typeface="Algerian" panose="04020705040A02060702" charset="0"/>
                <a:sym typeface="+mn-ea"/>
              </a:rPr>
              <a:t>Question 9 – Career Growth</a:t>
            </a:r>
            <a:endParaRPr lang="en-US" sz="2800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822960" y="1645920"/>
            <a:ext cx="10607040" cy="2654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Job Level was compared with Attrition (Yes/No).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Job Level 1 had the highest number of employees in the displayed project view.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Attrition cases were mainly visible at lower job levels, especially Job Level 1.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289030" y="6446520"/>
            <a:ext cx="32385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15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2800" dirty="0">
                <a:latin typeface="Algerian" panose="04020705040A02060702" charset="0"/>
                <a:cs typeface="Algerian" panose="04020705040A02060702" charset="0"/>
                <a:sym typeface="+mn-ea"/>
              </a:rPr>
              <a:t>Question 10 – Job Level and Employee Retention</a:t>
            </a:r>
            <a:endParaRPr lang="en-US" sz="2800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822960" y="1645920"/>
            <a:ext cx="10607040" cy="2245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Department was selected as the main dashboard filter.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Human Resources was selected for the displayed department analysis.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The dashboard helps compare attrition patterns and key employee measures within the selected department.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2100">
                <a:solidFill>
                  <a:srgbClr val="2D2D2D"/>
                </a:solidFill>
              </a:defRPr>
            </a:pPr>
            <a:r>
              <a:rPr sz="28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KPIs, Pivot Tables, charts and slicers make the analysis easier to understand.</a:t>
            </a:r>
            <a:endParaRPr sz="28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289030" y="6446520"/>
            <a:ext cx="32385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16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IN" altLang="en-US" sz="2800" dirty="0">
                <a:latin typeface="Algerian" panose="04020705040A02060702" charset="0"/>
                <a:cs typeface="Algerian" panose="04020705040A02060702" charset="0"/>
                <a:sym typeface="+mn-ea"/>
              </a:rPr>
              <a:t>s</a:t>
            </a:r>
            <a:r>
              <a:rPr lang="en-IN" altLang="en-US" sz="2800" dirty="0">
                <a:latin typeface="Algerian" panose="04020705040A02060702" charset="0"/>
                <a:cs typeface="Algerian" panose="04020705040A02060702" charset="0"/>
                <a:sym typeface="+mn-ea"/>
              </a:rPr>
              <a:t>licer</a:t>
            </a:r>
            <a:r>
              <a:rPr lang="en-US" sz="2800" dirty="0">
                <a:latin typeface="Algerian" panose="04020705040A02060702" charset="0"/>
                <a:cs typeface="Algerian" panose="04020705040A02060702" charset="0"/>
                <a:sym typeface="+mn-ea"/>
              </a:rPr>
              <a:t> – Department Analysis</a:t>
            </a:r>
            <a:endParaRPr lang="en-US" sz="2800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005840" y="1930400"/>
            <a:ext cx="10607040" cy="28562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The project analyzed employee attrition using Microsoft Excel.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The dataset was clean and suitable for analysis, so no significant preprocessing was required.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KPIs and Pivot Tables were used to understand employee attrition and related factors.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Overtime, job satisfaction, monthly income, work-life balance, job role, department, distance from home, career growth and job level were analyzed.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  <a:p>
            <a:pPr>
              <a:spcAft>
                <a:spcPts val="14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Baskerville Old Face" panose="02020602080505020303" charset="0"/>
                <a:cs typeface="Baskerville Old Face" panose="02020602080505020303" charset="0"/>
              </a:rPr>
              <a:t>The dashboard provides a clear view of department-based attrition and supports better understanding of employee retention.</a:t>
            </a:r>
            <a:endParaRPr sz="2400">
              <a:solidFill>
                <a:schemeClr val="tx1"/>
              </a:solidFill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289030" y="6446520"/>
            <a:ext cx="32385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rPr>
                <a:solidFill>
                  <a:schemeClr val="tx1"/>
                </a:solidFill>
              </a:rPr>
              <a:t>17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89549" y="431755"/>
            <a:ext cx="10799438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2800" dirty="0">
                <a:latin typeface="Algerian" panose="04020705040A02060702" charset="0"/>
                <a:cs typeface="Algerian" panose="04020705040A02060702" charset="0"/>
                <a:sym typeface="+mn-ea"/>
              </a:rPr>
              <a:t>Conclusion</a:t>
            </a:r>
            <a:endParaRPr lang="en-US" sz="2800" dirty="0"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1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1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96"/>
</p:tagLst>
</file>

<file path=ppt/tags/tag119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  <p:tag name="KSO_WM_DIAGRAM_VIRTUALLY_FRAME" val="{&quot;height&quot;:151.2,&quot;left&quot;:64.8,&quot;top&quot;:122.4,&quot;width&quot;:822.4}"/>
</p:tagLst>
</file>

<file path=ppt/tags/tag120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UNIT_ID" val="diagram19882022*l_h_f*1_2_3"/>
  <p:tag name="KSO_WM_DIAGRAM_GROUP_CODE" val="l1-1"/>
  <p:tag name="KSO_WM_TAG_VERSION" val="2.0"/>
  <p:tag name="KSO_WM_BEAUTIFY_FLAG" val="#wm#"/>
  <p:tag name="KSO_WM_DIAGRAM_VIRTUALLY_FRAME" val="{&quot;height&quot;:151.2,&quot;left&quot;:64.8,&quot;top&quot;:122.4,&quot;width&quot;:822.4}"/>
</p:tagLst>
</file>

<file path=ppt/tags/tag121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SLIDE_TYPE" val="text"/>
  <p:tag name="KSO_WM_BEAUTIFY_FLAG" val="#wm#"/>
  <p:tag name="KSO_WM_SLIDE_THEME_ID" val="3326791"/>
  <p:tag name="KSO_WM_SLIDE_THEME_NAME" val="Green Fresh"/>
</p:tagLst>
</file>

<file path=ppt/tags/tag124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2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SLIDE_TYPE" val="text"/>
  <p:tag name="KSO_WM_BEAUTIFY_FLAG" val="#wm#"/>
</p:tagLst>
</file>

<file path=ppt/tags/tag128.xml><?xml version="1.0" encoding="utf-8"?>
<p:tagLst xmlns:p="http://schemas.openxmlformats.org/presentationml/2006/main">
  <p:tag name="KSO_WM_UNIT_INDEX" val="1_1_2"/>
  <p:tag name="KSO_WM_UNIT_TYPE" val="l_h_f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  <p:tag name="KSO_WM_UNIT_SUBTYPE" val="a"/>
</p:tagLst>
</file>

<file path=ppt/tags/tag129.xml><?xml version="1.0" encoding="utf-8"?>
<p:tagLst xmlns:p="http://schemas.openxmlformats.org/presentationml/2006/main">
  <p:tag name="KSO_WM_UNIT_INDEX" val="1_2_2"/>
  <p:tag name="KSO_WM_UNIT_TYPE" val="l_h_f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  <p:tag name="KSO_WM_UNIT_SUBTYPE" val="a"/>
</p:tagLst>
</file>

<file path=ppt/tags/tag130.xml><?xml version="1.0" encoding="utf-8"?>
<p:tagLst xmlns:p="http://schemas.openxmlformats.org/presentationml/2006/main">
  <p:tag name="KSO_WM_UNIT_INDEX" val="1_3_2"/>
  <p:tag name="KSO_WM_UNIT_TYPE" val="l_h_f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  <p:tag name="KSO_WM_UNIT_SUBTYPE" val="a"/>
</p:tagLst>
</file>

<file path=ppt/tags/tag131.xml><?xml version="1.0" encoding="utf-8"?>
<p:tagLst xmlns:p="http://schemas.openxmlformats.org/presentationml/2006/main">
  <p:tag name="KSO_WM_UNIT_INDEX" val="1_4_2"/>
  <p:tag name="KSO_WM_UNIT_TYPE" val="l_h_f"/>
  <p:tag name="KSO_WM_TEMPLATE_CATEGORY" val="diagram"/>
  <p:tag name="KSO_WM_TEMPLATE_INDEX" val="19882022"/>
  <p:tag name="KSO_WM_UNIT_ID" val="diagram19882022*l_h_f*1_4_2"/>
  <p:tag name="KSO_WM_DIAGRAM_GROUP_CODE" val="l1-1"/>
  <p:tag name="KSO_WM_TAG_VERSION" val="2.0"/>
  <p:tag name="KSO_WM_BEAUTIFY_FLAG" val="#wm#"/>
  <p:tag name="KSO_WM_UNIT_SUBTYPE" val="a"/>
</p:tagLst>
</file>

<file path=ppt/tags/tag132.xml><?xml version="1.0" encoding="utf-8"?>
<p:tagLst xmlns:p="http://schemas.openxmlformats.org/presentationml/2006/main">
  <p:tag name="KSO_WM_UNIT_INDEX" val="1_5_2"/>
  <p:tag name="KSO_WM_UNIT_TYPE" val="l_h_f"/>
  <p:tag name="KSO_WM_TEMPLATE_CATEGORY" val="diagram"/>
  <p:tag name="KSO_WM_TEMPLATE_INDEX" val="19882022"/>
  <p:tag name="KSO_WM_UNIT_ID" val="diagram19882022*l_h_f*1_5_2"/>
  <p:tag name="KSO_WM_DIAGRAM_GROUP_CODE" val="l1-1"/>
  <p:tag name="KSO_WM_TAG_VERSION" val="2.0"/>
  <p:tag name="KSO_WM_BEAUTIFY_FLAG" val="#wm#"/>
  <p:tag name="KSO_WM_UNIT_SUBTYPE" val="a"/>
</p:tagLst>
</file>

<file path=ppt/tags/tag133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34.xml><?xml version="1.0" encoding="utf-8"?>
<p:tagLst xmlns:p="http://schemas.openxmlformats.org/presentationml/2006/main">
  <p:tag name="KSO_WM_UNIT_TEXT" val="Employee Attrition Analysi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</p:tagLst>
</file>

<file path=ppt/tags/tag135.xml><?xml version="1.0" encoding="utf-8"?>
<p:tagLst xmlns:p="http://schemas.openxmlformats.org/presentationml/2006/main">
  <p:tag name="KSO_WM_SLIDE_TYPE" val="text"/>
  <p:tag name="KSO_WM_BEAUTIFY_FLAG" val="#wm#"/>
</p:tagLst>
</file>

<file path=ppt/tags/tag13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37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38.xml><?xml version="1.0" encoding="utf-8"?>
<p:tagLst xmlns:p="http://schemas.openxmlformats.org/presentationml/2006/main">
  <p:tag name="KSO_WM_UNIT_TEXT" val="Data Process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9.xml><?xml version="1.0" encoding="utf-8"?>
<p:tagLst xmlns:p="http://schemas.openxmlformats.org/presentationml/2006/main">
  <p:tag name="KSO_WM_SLIDE_TYPE" val="text"/>
  <p:tag name="KSO_WM_BEAUTIFY_FLAG" val="#wm#"/>
</p:tagLst>
</file>

<file path=ppt/tags/tag14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42.xml><?xml version="1.0" encoding="utf-8"?>
<p:tagLst xmlns:p="http://schemas.openxmlformats.org/presentationml/2006/main">
  <p:tag name="KSO_WM_UNIT_TEXT" val="Question 1 – Genderwise Attri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43.xml><?xml version="1.0" encoding="utf-8"?>
<p:tagLst xmlns:p="http://schemas.openxmlformats.org/presentationml/2006/main">
  <p:tag name="KSO_WM_SLIDE_TYPE" val="text"/>
  <p:tag name="KSO_WM_BEAUTIFY_FLAG" val="#wm#"/>
</p:tagLst>
</file>

<file path=ppt/tags/tag144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4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46.xml><?xml version="1.0" encoding="utf-8"?>
<p:tagLst xmlns:p="http://schemas.openxmlformats.org/presentationml/2006/main">
  <p:tag name="KSO_WM_UNIT_TEXT" val="Question 2 – Overtime (Yes / No)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47.xml><?xml version="1.0" encoding="utf-8"?>
<p:tagLst xmlns:p="http://schemas.openxmlformats.org/presentationml/2006/main">
  <p:tag name="KSO_WM_SLIDE_TYPE" val="text"/>
  <p:tag name="KSO_WM_BEAUTIFY_FLAG" val="#wm#"/>
</p:tagLst>
</file>

<file path=ppt/tags/tag148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50.xml><?xml version="1.0" encoding="utf-8"?>
<p:tagLst xmlns:p="http://schemas.openxmlformats.org/presentationml/2006/main">
  <p:tag name="KSO_WM_UNIT_TEXT" val="Question 3 – Job Satisfaction and Attri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51.xml><?xml version="1.0" encoding="utf-8"?>
<p:tagLst xmlns:p="http://schemas.openxmlformats.org/presentationml/2006/main">
  <p:tag name="KSO_WM_SLIDE_TYPE" val="text"/>
  <p:tag name="KSO_WM_BEAUTIFY_FLAG" val="#wm#"/>
</p:tagLst>
</file>

<file path=ppt/tags/tag152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54.xml><?xml version="1.0" encoding="utf-8"?>
<p:tagLst xmlns:p="http://schemas.openxmlformats.org/presentationml/2006/main">
  <p:tag name="KSO_WM_UNIT_TEXT" val="Question 4 – Monthly Income and Attri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55.xml><?xml version="1.0" encoding="utf-8"?>
<p:tagLst xmlns:p="http://schemas.openxmlformats.org/presentationml/2006/main">
  <p:tag name="KSO_WM_SLIDE_TYPE" val="text"/>
  <p:tag name="KSO_WM_BEAUTIFY_FLAG" val="#wm#"/>
</p:tagLst>
</file>

<file path=ppt/tags/tag15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57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58.xml><?xml version="1.0" encoding="utf-8"?>
<p:tagLst xmlns:p="http://schemas.openxmlformats.org/presentationml/2006/main">
  <p:tag name="KSO_WM_UNIT_TEXT" val="Question 5 – Work-Life Balance and Analysi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59.xml><?xml version="1.0" encoding="utf-8"?>
<p:tagLst xmlns:p="http://schemas.openxmlformats.org/presentationml/2006/main">
  <p:tag name="KSO_WM_SLIDE_TYPE" val="text"/>
  <p:tag name="KSO_WM_BEAUTIFY_FLAG" val="#wm#"/>
</p:tagLst>
</file>

<file path=ppt/tags/tag16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61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62.xml><?xml version="1.0" encoding="utf-8"?>
<p:tagLst xmlns:p="http://schemas.openxmlformats.org/presentationml/2006/main">
  <p:tag name="KSO_WM_UNIT_TEXT" val="Question 6 – Job Role Wise Attri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63.xml><?xml version="1.0" encoding="utf-8"?>
<p:tagLst xmlns:p="http://schemas.openxmlformats.org/presentationml/2006/main">
  <p:tag name="KSO_WM_SLIDE_TYPE" val="text"/>
  <p:tag name="KSO_WM_BEAUTIFY_FLAG" val="#wm#"/>
</p:tagLst>
</file>

<file path=ppt/tags/tag164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6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66.xml><?xml version="1.0" encoding="utf-8"?>
<p:tagLst xmlns:p="http://schemas.openxmlformats.org/presentationml/2006/main">
  <p:tag name="KSO_WM_UNIT_TEXT" val="Question 7 – Department Wise Attri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67.xml><?xml version="1.0" encoding="utf-8"?>
<p:tagLst xmlns:p="http://schemas.openxmlformats.org/presentationml/2006/main">
  <p:tag name="KSO_WM_SLIDE_TYPE" val="text"/>
  <p:tag name="KSO_WM_BEAUTIFY_FLAG" val="#wm#"/>
</p:tagLst>
</file>

<file path=ppt/tags/tag168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6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70.xml><?xml version="1.0" encoding="utf-8"?>
<p:tagLst xmlns:p="http://schemas.openxmlformats.org/presentationml/2006/main">
  <p:tag name="KSO_WM_UNIT_TEXT" val="Question 8 – Distance from Hom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71.xml><?xml version="1.0" encoding="utf-8"?>
<p:tagLst xmlns:p="http://schemas.openxmlformats.org/presentationml/2006/main">
  <p:tag name="KSO_WM_SLIDE_TYPE" val="text"/>
  <p:tag name="KSO_WM_BEAUTIFY_FLAG" val="#wm#"/>
</p:tagLst>
</file>

<file path=ppt/tags/tag172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73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74.xml><?xml version="1.0" encoding="utf-8"?>
<p:tagLst xmlns:p="http://schemas.openxmlformats.org/presentationml/2006/main">
  <p:tag name="KSO_WM_UNIT_TEXT" val="Question 9 – Career Growth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75.xml><?xml version="1.0" encoding="utf-8"?>
<p:tagLst xmlns:p="http://schemas.openxmlformats.org/presentationml/2006/main">
  <p:tag name="KSO_WM_SLIDE_TYPE" val="text"/>
  <p:tag name="KSO_WM_BEAUTIFY_FLAG" val="#wm#"/>
</p:tagLst>
</file>

<file path=ppt/tags/tag176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77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78.xml><?xml version="1.0" encoding="utf-8"?>
<p:tagLst xmlns:p="http://schemas.openxmlformats.org/presentationml/2006/main">
  <p:tag name="KSO_WM_UNIT_TEXT" val="Question 10 – Job Level and Employee Reten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79.xml><?xml version="1.0" encoding="utf-8"?>
<p:tagLst xmlns:p="http://schemas.openxmlformats.org/presentationml/2006/main">
  <p:tag name="KSO_WM_SLIDE_TYPE" val="text"/>
  <p:tag name="KSO_WM_BEAUTIFY_FLAG" val="#wm#"/>
</p:tagLst>
</file>

<file path=ppt/tags/tag180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81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82.xml><?xml version="1.0" encoding="utf-8"?>
<p:tagLst xmlns:p="http://schemas.openxmlformats.org/presentationml/2006/main">
  <p:tag name="KSO_WM_UNIT_TEXT" val="Dashboard – Department Analysi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83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4205</Words>
  <Application>WPS Presentation</Application>
  <PresentationFormat>On-screen Show (4:3)</PresentationFormat>
  <Paragraphs>138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Arial</vt:lpstr>
      <vt:lpstr>江城圆体 400W</vt:lpstr>
      <vt:lpstr>Baskerville Old Face</vt:lpstr>
      <vt:lpstr>Algerian</vt:lpstr>
      <vt:lpstr>Charis SIL</vt:lpstr>
      <vt:lpstr>Liberation Mono</vt:lpstr>
      <vt:lpstr>Microsoft YaHei</vt:lpstr>
      <vt:lpstr>Arial Unicode MS</vt:lpstr>
      <vt:lpstr>Crimson Text SemiBold</vt:lpstr>
      <vt:lpstr>Calibri</vt:lpstr>
      <vt:lpstr>Office Theme</vt:lpstr>
      <vt:lpstr>1_Office Theme</vt:lpstr>
      <vt:lpstr>Employee Attrition Analysis</vt:lpstr>
      <vt:lpstr>Problem Statement</vt:lpstr>
      <vt:lpstr>Key Performance Indicators (KPIs)</vt:lpstr>
      <vt:lpstr>Question 1 – Genderwise Attrition</vt:lpstr>
      <vt:lpstr>Question 2 – Overtime (Yes / No)</vt:lpstr>
      <vt:lpstr>Question 3 – Job Satisfaction and Attrition</vt:lpstr>
      <vt:lpstr>Question 4 – Monthly Income and Attrition</vt:lpstr>
      <vt:lpstr>Question 5 – Work-Life Balance and Analysis</vt:lpstr>
      <vt:lpstr>Question 6 – Job Role Wise Attrition</vt:lpstr>
      <vt:lpstr>Question 7 – Department Wise Attrition</vt:lpstr>
      <vt:lpstr>Question 8 – Distance from Home</vt:lpstr>
      <vt:lpstr>Question 9 – Career Growth</vt:lpstr>
      <vt:lpstr>Question 10 – Job Level and Employee Retention</vt:lpstr>
      <vt:lpstr>slicer – Department Analysis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Suvitha Suvitha</cp:lastModifiedBy>
  <cp:revision>5</cp:revision>
  <dcterms:created xsi:type="dcterms:W3CDTF">2013-01-27T09:14:00Z</dcterms:created>
  <dcterms:modified xsi:type="dcterms:W3CDTF">2026-10-05T17:27:39Z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3C2981A6916D406CBFB67BCE1903F654_13</vt:lpwstr>
  </property>
  <property fmtid="{D5CDD505-2E9C-101B-9397-08002B2CF9AE}" pid="3" name="KSOProductBuildVer">
    <vt:lpwstr>1033-12.1.0.28485</vt:lpwstr>
  </property>
</Properties>
</file>